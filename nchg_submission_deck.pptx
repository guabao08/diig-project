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CDBE"/>
                </a:solidFill>
              </a:defRPr>
            </a:pPr>
            <a:r>
              <a:t>NC Hotel Group | F26 DIIG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4F8"/>
                </a:solidFill>
              </a:defRPr>
            </a:pPr>
            <a:r>
              <a:t>Joshua Wu · jw1059</a:t>
            </a:r>
            <a:br/>
            <a:r>
              <a:t>A booking-time risk lens for a reversible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CDBE"/>
                </a:solidFill>
              </a:defRPr>
            </a:pPr>
            <a: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4F8"/>
                </a:solidFill>
              </a:defRPr>
            </a:pPr>
            <a:r>
              <a:t>Which reservations create the largest avoidable cancellation/no-show exposure—and what should NCHG test?</a:t>
            </a:r>
            <a:br/>
            <a:br/>
            <a:r>
              <a:t>20,000 reservation rows | Jul 2015–Aug 2017 | 2 properties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CDBE"/>
                </a:solidFill>
              </a:defRPr>
            </a:pPr>
            <a:r>
              <a:t>Audit before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4F8"/>
                </a:solidFill>
              </a:defRPr>
            </a:pPr>
            <a:r>
              <a:t>37.69% cancellation/no-show label rate</a:t>
            </a:r>
            <a:br/>
            <a:r>
              <a:t>3,486 exact duplicate rows beyond first (1,338 groups)</a:t>
            </a:r>
            <a:br/>
            <a:r>
              <a:t>Status and label are perfectly consistent</a:t>
            </a:r>
            <a:br/>
            <a:br/>
            <a:r>
              <a:t>Duplicates are not silently deleted: they change the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CDBE"/>
                </a:solidFill>
              </a:defRPr>
            </a:pPr>
            <a:r>
              <a:t>Headline: a material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4F8"/>
                </a:solidFill>
              </a:defRPr>
            </a:pPr>
            <a:r>
              <a:t>Raw rows: 37.69% label rate | $2.815m gross exposure proxy</a:t>
            </a:r>
            <a:br/>
            <a:r>
              <a:t>Exact-deduplicated: 31.00% | $2.219m</a:t>
            </a:r>
            <a:br/>
            <a:br/>
            <a:r>
              <a:t>ADR × stay nights is a gross exposure proxy—not lost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CDBE"/>
                </a:solidFill>
              </a:defRPr>
            </a:pPr>
            <a:r>
              <a:t>Where risk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4F8"/>
                </a:solidFill>
              </a:defRPr>
            </a:pPr>
            <a:r>
              <a:t>City Hotel: 42.73% vs Resort: 27.91%</a:t>
            </a:r>
            <a:br/>
            <a:r>
              <a:t>Groups: 63.05% cancellation/no-show label rate</a:t>
            </a:r>
            <a:br/>
            <a:r>
              <a:t>City × Groups: 72.09%</a:t>
            </a:r>
            <a:br/>
            <a:br/>
            <a:r>
              <a:t>Property mix and segment composition matter.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CDBE"/>
                </a:solidFill>
              </a:defRPr>
            </a:pPr>
            <a:r>
              <a:t>Lead time is the clearest gradient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4F8"/>
                </a:solidFill>
              </a:defRPr>
            </a:pPr>
            <a:r>
              <a:t>0 days: 6.70%</a:t>
            </a:r>
            <a:br/>
            <a:r>
              <a:t>31–90 days: 37.86%</a:t>
            </a:r>
            <a:br/>
            <a:r>
              <a:t>181+ days: 58.45%</a:t>
            </a:r>
            <a:br/>
            <a:br/>
            <a:r>
              <a:t>Long-lead bookings are a natural early-confirmation experiment population—not a reason to reject demand.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CDBE"/>
                </a:solidFill>
              </a:defRPr>
            </a:pPr>
            <a:r>
              <a:t>Signals, with causal caution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4F8"/>
                </a:solidFill>
              </a:defRPr>
            </a:pPr>
            <a:r>
              <a:t>Non Refund: 99.49% (n=2,554)</a:t>
            </a:r>
            <a:br/>
            <a:r>
              <a:t>Returning guest: 14.85% vs 38.47% non-returning</a:t>
            </a:r>
            <a:br/>
            <a:br/>
            <a:r>
              <a:t>These are associations. Deposit/channel changes may alter conversion, mix, fees, and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CDBE"/>
                </a:solidFill>
              </a:defRPr>
            </a:pPr>
            <a:r>
              <a:t>Can we target risk?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4F8"/>
                </a:solidFill>
              </a:defRPr>
            </a:pPr>
            <a:r>
              <a:t>Chronological logistic model</a:t>
            </a:r>
            <a:br/>
            <a:r>
              <a:t>Test AUC 0.733 | Brier 0.197 vs 0.239 baseline</a:t>
            </a:r>
            <a:br/>
            <a:r>
              <a:t>Frozen Non Refund rule: 100% test label rate; 18.6% of test labels</a:t>
            </a:r>
            <a:br/>
            <a:br/>
            <a:r>
              <a:t>Monitor calibration drift; verify history timing.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CDBE"/>
                </a:solidFill>
              </a:defRPr>
            </a:pPr>
            <a:r>
              <a:t>Limitation: what this file cannot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4F8"/>
                </a:solidFill>
              </a:defRPr>
            </a:pPr>
            <a:r>
              <a:t>No room count or inventory/capacity</a:t>
            </a:r>
            <a:br/>
            <a:r>
              <a:t>No commissions, replacement demand, walk costs, or fee recovery</a:t>
            </a:r>
            <a:br/>
            <a:r>
              <a:t>No causal policy assignment or experiment</a:t>
            </a:r>
            <a:br/>
            <a:br/>
            <a:r>
              <a:t>Therefore: no safe overbooking multiplier, profit lift, or channel-shift claim.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CDBE"/>
                </a:solidFill>
              </a:defRPr>
            </a:pPr>
            <a:r>
              <a:t>Recommendation | targeted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4F8"/>
                </a:solidFill>
              </a:defRPr>
            </a:pPr>
            <a:r>
              <a:t>1. Audit duplicate identity and field timing</a:t>
            </a:r>
            <a:br/>
            <a:r>
              <a:t>2. Randomize confirmation/deposit offer for eligible long-lead/high-risk bookings</a:t>
            </a:r>
            <a:br/>
            <a:r>
              <a:t>3. Block by property, channel, lead band, arrival month</a:t>
            </a:r>
            <a:br/>
            <a:r>
              <a:t>4. Measure conversion, kept nights, refunds, contacts, net contribution</a:t>
            </a:r>
            <a:br/>
            <a:r>
              <a:t>5. Add inventory + economics before capacity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